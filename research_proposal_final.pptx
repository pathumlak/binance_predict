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457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CADCFC"/>
                </a:solidFill>
                <a:latin typeface="Calibri"/>
              </a:rPr>
              <a:t>RESEARCH PROPOSAL  ·  COMPUTING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Georgia"/>
              </a:rPr>
              <a:t>Multimodal Crypto Direction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800" b="0" i="1">
                <a:solidFill>
                  <a:srgbClr val="CADCFC"/>
                </a:solidFill>
                <a:latin typeface="Calibri"/>
              </a:rPr>
              <a:t>A chart-CNN + news-sentiment + interactive pattern-matching system, evaluated on Binance OHLCV with calibrated uncertainty.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46320"/>
            <a:ext cx="5029200" cy="1280160"/>
          </a:xfrm>
          <a:prstGeom prst="rect">
            <a:avLst/>
          </a:prstGeom>
          <a:solidFill>
            <a:srgbClr val="141A44"/>
          </a:solidFill>
          <a:ln w="635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F4A261"/>
                </a:solidFill>
                <a:latin typeface="Calibr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85232"/>
            <a:ext cx="475488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600" b="1" i="0" dirty="0">
                <a:solidFill>
                  <a:srgbClr val="FFFFFF"/>
                </a:solidFill>
                <a:latin typeface="Calibri"/>
              </a:rPr>
              <a:t>Pathum  ·  </a:t>
            </a:r>
            <a:r>
              <a:rPr lang="en-US" sz="1600" b="1" dirty="0">
                <a:solidFill>
                  <a:srgbClr val="FFFFFF"/>
                </a:solidFill>
                <a:latin typeface="Calibri"/>
              </a:rPr>
              <a:t>BSSE0122011402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650992"/>
            <a:ext cx="475488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1200" i="1" dirty="0">
                <a:solidFill>
                  <a:srgbClr val="CADCFC"/>
                </a:solidFill>
                <a:latin typeface="Calibri"/>
              </a:rPr>
              <a:t>Supervisor: Mrs. Ashani Gallage</a:t>
            </a:r>
            <a:endParaRPr sz="12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26880" y="3383280"/>
            <a:ext cx="164592" cy="5486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9409176" y="3154680"/>
            <a:ext cx="0" cy="100584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56063" y="3200400"/>
            <a:ext cx="164592" cy="9144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9738359" y="2971800"/>
            <a:ext cx="0" cy="1371600"/>
          </a:xfrm>
          <a:prstGeom prst="line">
            <a:avLst/>
          </a:prstGeom>
          <a:ln w="1524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985248" y="3337560"/>
            <a:ext cx="164592" cy="64008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10067544" y="3108960"/>
            <a:ext cx="0" cy="109728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314432" y="3063240"/>
            <a:ext cx="164592" cy="11887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0396728" y="2834640"/>
            <a:ext cx="0" cy="164592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643615" y="3429000"/>
            <a:ext cx="164592" cy="457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725911" y="3200400"/>
            <a:ext cx="0" cy="914400"/>
          </a:xfrm>
          <a:prstGeom prst="line">
            <a:avLst/>
          </a:prstGeom>
          <a:ln w="1524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972800" y="3154680"/>
            <a:ext cx="164592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11055096" y="2926080"/>
            <a:ext cx="0" cy="1463040"/>
          </a:xfrm>
          <a:prstGeom prst="line">
            <a:avLst/>
          </a:prstGeom>
          <a:ln w="1524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301984" y="3246120"/>
            <a:ext cx="164592" cy="8229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11384280" y="3017520"/>
            <a:ext cx="0" cy="1280160"/>
          </a:xfrm>
          <a:prstGeom prst="line">
            <a:avLst/>
          </a:prstGeom>
          <a:ln w="1524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95360" y="52120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BTC  ·  ETH  ·  BNB  ·  SOL  ·  XRP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5321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  <a:latin typeface="Calibri"/>
              </a:rPr>
              <a:t>1-hour  ·  Binance public API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What we'll cover today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828800"/>
            <a:ext cx="5120640" cy="96012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960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75688"/>
            <a:ext cx="38404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Calibri"/>
              </a:rPr>
              <a:t>Introduction &amp;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120640" cy="96012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91440" cy="960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93392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75688"/>
            <a:ext cx="38404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Calibri"/>
              </a:rPr>
              <a:t>Aim &amp;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53512"/>
            <a:ext cx="5120640" cy="96012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953512"/>
            <a:ext cx="91440" cy="960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118104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00400"/>
            <a:ext cx="38404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Calibri"/>
              </a:rPr>
              <a:t>Literature &amp;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53512"/>
            <a:ext cx="5120640" cy="96012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953512"/>
            <a:ext cx="91440" cy="960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118104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200400"/>
            <a:ext cx="38404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Calibri"/>
              </a:rPr>
              <a:t>Proposed Solution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78224"/>
            <a:ext cx="5120640" cy="96012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078224"/>
            <a:ext cx="91440" cy="960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242816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325112"/>
            <a:ext cx="38404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Calibri"/>
              </a:rPr>
              <a:t>Progress: 4 of 7 phases done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078224"/>
            <a:ext cx="5120640" cy="96012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078224"/>
            <a:ext cx="91440" cy="960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242816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325112"/>
            <a:ext cx="38404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Calibri"/>
              </a:rPr>
              <a:t>Defending the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202936"/>
            <a:ext cx="5120640" cy="96012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202936"/>
            <a:ext cx="91440" cy="960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367527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449823"/>
            <a:ext cx="38404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Calibri"/>
              </a:rPr>
              <a:t>Methodology &amp; Timeline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202936"/>
            <a:ext cx="5120640" cy="96012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5202936"/>
            <a:ext cx="91440" cy="960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5367527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449823"/>
            <a:ext cx="38404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Calibri"/>
              </a:rPr>
              <a:t>Conclusion  ·  Q&amp;A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01  ·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Cryptocurrency markets meet machine learning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78308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r>
              <a:rPr sz="1800" b="1" i="0">
                <a:solidFill>
                  <a:srgbClr val="1E2761"/>
                </a:solidFill>
                <a:latin typeface="Georgia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5852160" cy="1463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Calibri"/>
              </a:rPr>
              <a:t>Cryptocurrency markets trade 24/7, are highly volatile, and are influenced by a mix of technical patterns, on-chain events, and rapidly-spreading news. They are both a research domain and a real-world testbed for forecasting under non-stationarity.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9476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r>
              <a:rPr sz="1800" b="1" i="0">
                <a:solidFill>
                  <a:srgbClr val="1E2761"/>
                </a:solidFill>
                <a:latin typeface="Georgia"/>
              </a:rPr>
              <a:t>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>
            <a:spAutoFit/>
          </a:bodyPr>
          <a:lstStyle/>
          <a:p>
            <a:r>
              <a:rPr sz="1300" b="0" i="1">
                <a:solidFill>
                  <a:srgbClr val="6B7280"/>
                </a:solidFill>
                <a:latin typeface="Calibri"/>
              </a:rPr>
              <a:t>Direction prediction draws on three traditions: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599432"/>
            <a:ext cx="274320" cy="27432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Numerical TS  </a:t>
            </a:r>
            <a:r>
              <a:rPr sz="1300" b="0" i="1">
                <a:solidFill>
                  <a:srgbClr val="6B7280"/>
                </a:solidFill>
                <a:latin typeface="Calibri"/>
              </a:rPr>
              <a:t>— ARIMA / XGBoost / Transformers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102352"/>
            <a:ext cx="274320" cy="27432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0292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Computer Vision  </a:t>
            </a:r>
            <a:r>
              <a:rPr sz="1300" b="0" i="1">
                <a:solidFill>
                  <a:srgbClr val="6B7280"/>
                </a:solidFill>
                <a:latin typeface="Calibri"/>
              </a:rPr>
              <a:t>— CNNs over chart images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605272"/>
            <a:ext cx="274320" cy="27432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55321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NLP  </a:t>
            </a:r>
            <a:r>
              <a:rPr sz="1300" b="0" i="1">
                <a:solidFill>
                  <a:srgbClr val="6B7280"/>
                </a:solidFill>
                <a:latin typeface="Calibri"/>
              </a:rPr>
              <a:t>— FinBERT / CryptoBERT sentiment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783080"/>
            <a:ext cx="4754880" cy="4297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8040" y="19202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WHY THIS DOMAIN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2316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Georgia"/>
              </a:rPr>
              <a:t>$2.5T+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346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  <a:latin typeface="Calibri"/>
              </a:rPr>
              <a:t>Total crypto market cap (2024–25 cycle peak)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91839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Georgia"/>
              </a:rPr>
              <a:t>370K+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7033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  <a:latin typeface="Calibri"/>
              </a:rPr>
              <a:t>OHLCV candles ingested across 5 pairs × 6 intervals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16052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Georgia"/>
              </a:rP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5720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  <a:latin typeface="Calibri"/>
              </a:rPr>
              <a:t>Trading hours — news flows continuously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02920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Georgia"/>
              </a:rPr>
              <a:t>~50%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4406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  <a:latin typeface="Calibri"/>
              </a:rPr>
              <a:t>Direction accuracy of an unskilled coin-flip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The problem we're solving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828800"/>
            <a:ext cx="11201400" cy="1417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Calibri"/>
              </a:rPr>
              <a:t>Existing crypto-prediction models exploit a single modality — numbers, charts, or news — and report point predictions without calibrated uncertainty, leaving traders unable to gauge when the model should be trusted.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5760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5020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Georgia"/>
              </a:rPr>
              <a:t>Single-modality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3108960" cy="1234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Numerical models hit ~53% accuracy ceiling; visual &amp; textual signals untapped.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365760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53712" y="3931920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395020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Georgia"/>
              </a:rPr>
              <a:t>No uncertainty quantification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617720"/>
            <a:ext cx="3108960" cy="1234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Most published models give a label, not a calibrated probability — useless for risk.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365760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30184" y="3931920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4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395020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  <a:latin typeface="Georgia"/>
              </a:rPr>
              <a:t>Static, opaque pattern 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617720"/>
            <a:ext cx="3108960" cy="1234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Charts visually similar to the past don't always behave the same — regime matters.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02  ·  AIM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Research aim and four research questions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828800"/>
            <a:ext cx="1120140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OVERALL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600" b="0" i="1">
                <a:solidFill>
                  <a:srgbClr val="FFFFFF"/>
                </a:solidFill>
                <a:latin typeface="Calibri"/>
              </a:rPr>
              <a:t>Design, implement, and evaluate a multimodal cryptocurrency direction-prediction system that fuses chart imagery, numerical features, and news sentiment, and quantifies its own uncertainty using conformal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9184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291840"/>
            <a:ext cx="2697480" cy="4572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2331720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Can a leak-free, reproducible pipeline be built combining OHLCV with timestamped news?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29184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3291840"/>
            <a:ext cx="2697480" cy="4572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32918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RQ2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931920"/>
            <a:ext cx="2331720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Do single-modality numerical models hit a measurable accuracy ceiling on 1h direction prediction?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29184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2697480" cy="4572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32918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31920"/>
            <a:ext cx="2331720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Does the chart-image modality (CNN) add statistically significant information over numerical features?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329184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06840" y="3291840"/>
            <a:ext cx="2697480" cy="4572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32918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RQ4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931920"/>
            <a:ext cx="2331720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Does fusing all three modalities with calibrated uncertainty beat any single-modality baseline?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02  · 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Seven research objectives  ·  4 of 7 already delivered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783080"/>
            <a:ext cx="7772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RO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783080"/>
            <a:ext cx="676656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19" y="182880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83080"/>
            <a:ext cx="128016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828800"/>
            <a:ext cx="100583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Maps 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783080"/>
            <a:ext cx="23774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64040" y="1828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94560"/>
            <a:ext cx="7772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40279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RO1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194560"/>
            <a:ext cx="67665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19" y="2240279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Build a leak-free Binance + news ingestion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194560"/>
            <a:ext cx="12801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2240279"/>
            <a:ext cx="100583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RQ1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194560"/>
            <a:ext cx="23774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40" y="2240279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28B22"/>
                </a:solidFill>
                <a:latin typeface="Calibri"/>
              </a:rPr>
              <a:t>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761488"/>
            <a:ext cx="777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807208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RO2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2761488"/>
            <a:ext cx="6766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19" y="2807208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Establish numerical baselines under walk-forward CV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761488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80" y="2807208"/>
            <a:ext cx="100583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RQ2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2761488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64040" y="2807208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28B22"/>
                </a:solidFill>
                <a:latin typeface="Calibri"/>
              </a:rPr>
              <a:t>DONE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328416"/>
            <a:ext cx="7772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374136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RO3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3328416"/>
            <a:ext cx="67665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17319" y="3374136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Train chart-CNN baselines + DM significance tests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328416"/>
            <a:ext cx="12801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80" y="3374136"/>
            <a:ext cx="100583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RQ3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3328416"/>
            <a:ext cx="23774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64040" y="3374136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28B22"/>
                </a:solidFill>
                <a:latin typeface="Calibri"/>
              </a:rPr>
              <a:t>DONE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95344"/>
            <a:ext cx="777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3941063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RO4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3895344"/>
            <a:ext cx="6766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417319" y="3941063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Build news sentiment pipeline with leakage guards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3895344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83880" y="3941063"/>
            <a:ext cx="100583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RQ4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3895344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64040" y="3941063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28B22"/>
                </a:solidFill>
                <a:latin typeface="Calibri"/>
              </a:rPr>
              <a:t>DONE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462272"/>
            <a:ext cx="7772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4507992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RO5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80160" y="4462272"/>
            <a:ext cx="67665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417319" y="4507992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Build multimodal fusion + conformal uncertainty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462272"/>
            <a:ext cx="12801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83880" y="4507992"/>
            <a:ext cx="100583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RQ4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4462272"/>
            <a:ext cx="23774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64040" y="4507992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PLANNED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029200"/>
            <a:ext cx="777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507492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RO6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5029200"/>
            <a:ext cx="6766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17319" y="5074920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Build regime-aware FAISS pattern engine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46720" y="5029200"/>
            <a:ext cx="1280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183880" y="5074920"/>
            <a:ext cx="100583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RQ4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6880" y="5029200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64040" y="5074920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PLANNED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5596128"/>
            <a:ext cx="7772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5641848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RO7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80160" y="5596128"/>
            <a:ext cx="67665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417319" y="5641848"/>
            <a:ext cx="6492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Deliver interactive dashboard with XAI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5596128"/>
            <a:ext cx="12801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183880" y="5641848"/>
            <a:ext cx="100583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ALL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26880" y="5596128"/>
            <a:ext cx="23774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464040" y="5641848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PLANNED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34593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Each objective has a measurable deliverable on disk under experiments/baselines/ and data/. The remaining 3 phases are scoped on the 12-month timeline.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03  · 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Existing systems + their limitations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Citation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783080"/>
            <a:ext cx="475488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79" y="18288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783080"/>
            <a:ext cx="37033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274320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Sezer &amp; Ozbayoglu (2018)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240280"/>
            <a:ext cx="475488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79" y="22860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CNN over GAF time series — 53.5% on stocks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240280"/>
            <a:ext cx="370332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228600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Single modality, no uncertainty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3464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8803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Livieris et al. (2020)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834640"/>
            <a:ext cx="4754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79" y="288036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CNN-LSTM hybrid — 52–56% on crypto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28346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288036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Reports point estimates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29000"/>
            <a:ext cx="274320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4747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Wang &amp; Oates (2015)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429000"/>
            <a:ext cx="475488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79" y="347472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GAF/MTF imaging foundations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429000"/>
            <a:ext cx="370332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347472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Originated for non-financial 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2336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0690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Araci (2019) — FinBERT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023360"/>
            <a:ext cx="4754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79" y="406908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Finance-domain BERT for sentiment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402336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0" y="406908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Trained on news, not crypto-specific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617720"/>
            <a:ext cx="274320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663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Nie et al. (2023) PatchTST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4617720"/>
            <a:ext cx="475488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83279" y="466344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Patch-based transformer for TS forecasting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4617720"/>
            <a:ext cx="370332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0" y="466344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Numerical channels 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212080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525780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McLean &amp; Pontiff (2016)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5212080"/>
            <a:ext cx="47548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83279" y="52578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Empirical study of arbitrage decay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521208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0" y="525780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Why methodology &gt; 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All sources peer-reviewed (IEEE / Elsevier / JFE / arXiv) within the last decade.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03  ·  LITERATURE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Five gaps  ·  five contributions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828800"/>
            <a:ext cx="548640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457200"/>
          </a:xfrm>
          <a:prstGeom prst="rect">
            <a:avLst/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THE LITERATURE LACKS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5029200" cy="356616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r>
              <a:rPr sz="1400" b="0" i="0">
                <a:solidFill>
                  <a:srgbClr val="C83E3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Most studies use a SINGLE modality — numerical OR visual OR textual.</a:t>
            </a:r>
          </a:p>
          <a:p>
            <a:r>
              <a:rPr sz="1400" b="0" i="0">
                <a:solidFill>
                  <a:srgbClr val="C83E3E"/>
                </a:solidFill>
                <a:latin typeface="Calibri"/>
              </a:rPr>
              <a:t>
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Few report calibrated uncertainty (conformal / Bayesian intervals).</a:t>
            </a:r>
          </a:p>
          <a:p>
            <a:r>
              <a:rPr sz="1400" b="0" i="0">
                <a:solidFill>
                  <a:srgbClr val="C83E3E"/>
                </a:solidFill>
                <a:latin typeface="Calibri"/>
              </a:rPr>
              <a:t>
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Pattern matching ignores market regime — bull patterns leak into bear predictions.</a:t>
            </a:r>
          </a:p>
          <a:p>
            <a:r>
              <a:rPr sz="1400" b="0" i="0">
                <a:solidFill>
                  <a:srgbClr val="C83E3E"/>
                </a:solidFill>
                <a:latin typeface="Calibri"/>
              </a:rPr>
              <a:t>
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Lookahead bias rampant: news timestamps rarely audited against publication.</a:t>
            </a:r>
          </a:p>
          <a:p>
            <a:r>
              <a:rPr sz="1400" b="0" i="0">
                <a:solidFill>
                  <a:srgbClr val="C83E3E"/>
                </a:solidFill>
                <a:latin typeface="Calibri"/>
              </a:rPr>
              <a:t>
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User in the loop is absent — models predict without an interactive interface.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44068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440680" cy="457200"/>
          </a:xfrm>
          <a:prstGeom prst="rect">
            <a:avLst/>
          </a:prstGeom>
          <a:solidFill>
            <a:srgbClr val="228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4406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HOW THIS PROJECT CLOSES THE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5029200" cy="356616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r>
              <a:rPr sz="1400" b="0" i="0">
                <a:solidFill>
                  <a:srgbClr val="228B22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Multimodal late-fusion: numerical + chart-CNN + news-NLP combined.</a:t>
            </a:r>
          </a:p>
          <a:p>
            <a:r>
              <a:rPr sz="1400" b="0" i="0">
                <a:solidFill>
                  <a:srgbClr val="228B22"/>
                </a:solidFill>
                <a:latin typeface="Calibri"/>
              </a:rPr>
              <a:t>
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Conformal prediction wrappers — every output ships with 90% interval.</a:t>
            </a:r>
          </a:p>
          <a:p>
            <a:r>
              <a:rPr sz="1400" b="0" i="0">
                <a:solidFill>
                  <a:srgbClr val="228B22"/>
                </a:solidFill>
                <a:latin typeface="Calibri"/>
              </a:rPr>
              <a:t>
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Regime-aware k-NN: similarity filtered by HMM-classified market state.</a:t>
            </a:r>
          </a:p>
          <a:p>
            <a:r>
              <a:rPr sz="1400" b="0" i="0">
                <a:solidFill>
                  <a:srgbClr val="228B22"/>
                </a:solidFill>
                <a:latin typeface="Calibri"/>
              </a:rPr>
              <a:t>
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Strict ingestion-vs-publication timestamp guards prevent news leakage.</a:t>
            </a:r>
          </a:p>
          <a:p>
            <a:r>
              <a:rPr sz="1400" b="0" i="0">
                <a:solidFill>
                  <a:srgbClr val="228B22"/>
                </a:solidFill>
                <a:latin typeface="Calibri"/>
              </a:rPr>
              <a:t>
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Interactive dashboard: user selects a chart region → historical matches.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04  · 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Seven-phase system architecture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012680" y="1554480"/>
            <a:ext cx="1691640" cy="23774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12680" y="155448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120140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9144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9431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431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2024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Data Ingestion &amp;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128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Binance REST + WS + RSS news, monthly Parquet partitions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2331720"/>
            <a:ext cx="1691640" cy="23774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12680" y="233172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BASELINES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06040"/>
            <a:ext cx="1120140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606040"/>
            <a:ext cx="9144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77240" y="27203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7203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69748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Numerical Baselines + Walk-forward 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99008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Naive · XGBoost · LSTM · PatchTST · DM significance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3108960"/>
            <a:ext cx="1691640" cy="23774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12680" y="310896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MODELS · PARALLEL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83280"/>
            <a:ext cx="550926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383280"/>
            <a:ext cx="91440" cy="86868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7240" y="3589020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5890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474720"/>
            <a:ext cx="45491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Georgia"/>
              </a:rPr>
              <a:t>Chart-CNN (vision)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767328"/>
            <a:ext cx="4549140" cy="4571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Candlestick + GAF/MTF encoders, 250K-param CNN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5060" y="3383280"/>
            <a:ext cx="550926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95060" y="3383280"/>
            <a:ext cx="91440" cy="86868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69380" y="3589020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9380" y="35890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3740" y="3474720"/>
            <a:ext cx="45491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Georgia"/>
              </a:rPr>
              <a:t>News &amp; Sentiment (NLP)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3740" y="3767328"/>
            <a:ext cx="4549140" cy="4571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FinBERT/CryptoBERT, lookahead-safe alignment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2680" y="4069080"/>
            <a:ext cx="1691640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12680" y="406908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343400"/>
            <a:ext cx="1120140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4343400"/>
            <a:ext cx="9144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77240" y="44577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44577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443484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Multimodal Fusion + Conformal Uncertainty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7274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Late-fusion classifier · regime-aware gating · ablation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12680" y="4846320"/>
            <a:ext cx="1691640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12680" y="484632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PATTERN ENGINE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120640"/>
            <a:ext cx="1120140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2920" y="5120640"/>
            <a:ext cx="9144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77240" y="52349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" y="52349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212079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FAISS Pattern Matching + Continual Learning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550468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Embedding index · k-NN · drift detection · MLflow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12680" y="5623560"/>
            <a:ext cx="1691640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12680" y="562356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897880"/>
            <a:ext cx="11201400" cy="68580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02920" y="5897880"/>
            <a:ext cx="91440" cy="685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77240" y="60121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7240" y="60121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0" y="598932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Live Dashboard + XAI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" y="628192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TradingView LWC + FastAPI · region-select · Grad-CAM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080760" y="2542032"/>
            <a:ext cx="0" cy="64007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080760" y="3310128"/>
            <a:ext cx="0" cy="64008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080760" y="4270248"/>
            <a:ext cx="0" cy="64008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080760" y="5047488"/>
            <a:ext cx="0" cy="64008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080760" y="5824728"/>
            <a:ext cx="0" cy="64008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04  · 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Six things that are novel about this work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82880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91440" cy="2103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Multimodal late-fusion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337560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Numerical + chart-CNN + news sentiment combined in one classifier with ablation. Most published work fuses two at most.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79" y="1828800"/>
            <a:ext cx="91440" cy="2103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79" y="1993392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Conformal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468880"/>
            <a:ext cx="3337560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Every prediction ships with a calibrated 90% confidence interval — absent from almost all crypto-prediction baselines.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91440" cy="2103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993392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Regime-aware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337560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k-NN over chart embeddings filtered by HMM-classified market regime. Bull-pattern outcomes don't leak into bear-regime predictions.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41648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041648"/>
            <a:ext cx="91440" cy="2103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Human-in-the-loop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81728"/>
            <a:ext cx="3337560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User selects any chart region; the system returns the K nearest historical patterns + their realised outcomes.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4041648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79" y="4041648"/>
            <a:ext cx="91440" cy="2103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79" y="42062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Zero-leakage news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4681728"/>
            <a:ext cx="3337560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Every article carries publication and ingestion timestamps with unit tests that fail the build on any leakage.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041648"/>
            <a:ext cx="3703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40" y="4041648"/>
            <a:ext cx="91440" cy="21031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42062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  <a:latin typeface="Georgia"/>
              </a:rPr>
              <a:t>Continual learning with EWC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681728"/>
            <a:ext cx="3337560" cy="1325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Online retraining with Elastic Weight Consolidation + replay buffer to mitigate catastrophic forgetting under regime change.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05  · 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4 of 7 phases delivered  ·  evidence on disk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828800"/>
            <a:ext cx="150876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92807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0" name="Oval 9"/>
          <p:cNvSpPr/>
          <p:nvPr/>
        </p:nvSpPr>
        <p:spPr>
          <a:xfrm>
            <a:off x="1691640" y="1874519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91640" y="18745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1408" y="1828800"/>
            <a:ext cx="150876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21408" y="1892807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  <a:latin typeface="Calibr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21284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Baselines</a:t>
            </a:r>
          </a:p>
        </p:txBody>
      </p:sp>
      <p:sp>
        <p:nvSpPr>
          <p:cNvPr id="15" name="Oval 14"/>
          <p:cNvSpPr/>
          <p:nvPr/>
        </p:nvSpPr>
        <p:spPr>
          <a:xfrm>
            <a:off x="3310128" y="1874519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0128" y="18745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39896" y="1828800"/>
            <a:ext cx="150876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39896" y="1892807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  <a:latin typeface="Calibri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221284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Chart-CNN</a:t>
            </a:r>
          </a:p>
        </p:txBody>
      </p:sp>
      <p:sp>
        <p:nvSpPr>
          <p:cNvPr id="20" name="Oval 19"/>
          <p:cNvSpPr/>
          <p:nvPr/>
        </p:nvSpPr>
        <p:spPr>
          <a:xfrm>
            <a:off x="4928616" y="1874519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28616" y="18745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58384" y="1828800"/>
            <a:ext cx="150876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58384" y="1892807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  <a:latin typeface="Calibri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221284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News NLP</a:t>
            </a:r>
          </a:p>
        </p:txBody>
      </p:sp>
      <p:sp>
        <p:nvSpPr>
          <p:cNvPr id="25" name="Oval 24"/>
          <p:cNvSpPr/>
          <p:nvPr/>
        </p:nvSpPr>
        <p:spPr>
          <a:xfrm>
            <a:off x="6547104" y="1874519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47104" y="18745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76872" y="1828800"/>
            <a:ext cx="150876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76872" y="1892807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C7293"/>
                </a:solidFill>
                <a:latin typeface="Calibri"/>
              </a:rP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221284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Fusion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828800"/>
            <a:ext cx="150876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0" y="1892807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C7293"/>
                </a:solidFill>
                <a:latin typeface="Calibri"/>
              </a:rPr>
              <a:t>Phase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21284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Patterns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13848" y="1828800"/>
            <a:ext cx="1508760" cy="8686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13848" y="1892807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1C7293"/>
                </a:solidFill>
                <a:latin typeface="Calibri"/>
              </a:rPr>
              <a:t>Phase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3848" y="2212848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2971800"/>
            <a:ext cx="11201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Calibri"/>
              </a:rPr>
              <a:t>Concrete numbers from the work already completed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520440"/>
            <a:ext cx="2697480" cy="2468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794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F4A261"/>
                </a:solidFill>
                <a:latin typeface="Georgia"/>
              </a:rPr>
              <a:t>370K+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7548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CADCFC"/>
                </a:solidFill>
                <a:latin typeface="Calibri"/>
              </a:rPr>
              <a:t>OHLCV CANDLES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1206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5 pairs × 6 intervals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37560" y="3520440"/>
            <a:ext cx="2697480" cy="2468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0440" y="3794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F4A261"/>
                </a:solidFill>
                <a:latin typeface="Georgia"/>
              </a:rPr>
              <a:t>454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47548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CADCFC"/>
                </a:solidFill>
                <a:latin typeface="Calibri"/>
              </a:rPr>
              <a:t>NEWS ARTICLES SCORED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51206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CryptoBERT + FinBERT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520440"/>
            <a:ext cx="2697480" cy="2468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55080" y="3794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F4A261"/>
                </a:solidFill>
                <a:latin typeface="Georgia"/>
              </a:rPr>
              <a:t>0.540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7548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CADCFC"/>
                </a:solidFill>
                <a:latin typeface="Calibri"/>
              </a:rPr>
              <a:t>BEST CNN ACCURACY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1206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BTC 1h, +0.7pt over XGB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6840" y="3520440"/>
            <a:ext cx="2697480" cy="2468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89720" y="3794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600" b="1" i="0">
                <a:solidFill>
                  <a:srgbClr val="F4A261"/>
                </a:solidFill>
                <a:latin typeface="Georgia"/>
              </a:rPr>
              <a:t>p=0.006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47548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CADCFC"/>
                </a:solidFill>
                <a:latin typeface="Calibri"/>
              </a:rPr>
              <a:t>DM VS XGBOOST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12064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Calibri"/>
              </a:rPr>
              <a:t>Significant at 1% level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06  ·  DEFENDING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Why 53% accuracy is state-of-the-art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783080"/>
            <a:ext cx="11201400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FFFFFF"/>
                </a:solidFill>
                <a:latin typeface="Calibri"/>
              </a:rPr>
              <a:t>53% is not a weak result — it is the published ceiling for crypto direction prediction, with statistical significance.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42062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59" y="2743200"/>
            <a:ext cx="19202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78892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2743200"/>
            <a:ext cx="507492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78892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54680"/>
            <a:ext cx="4206240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Sezer &amp; Ozbayoglu (2018)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59" y="3154680"/>
            <a:ext cx="1920240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320040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53.5%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3154680"/>
            <a:ext cx="5074920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320040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Stock CNN-TA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4206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Livieris et al. (2020)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365760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370332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52 – 56%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3657600"/>
            <a:ext cx="5074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0" y="370332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Crypto CNN-LSTM hybrid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160520"/>
            <a:ext cx="4206240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2062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Atsalakis &amp; Valavanis (2009)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4160520"/>
            <a:ext cx="1920240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42062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51 – 55%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4160520"/>
            <a:ext cx="5074920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0" y="420624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100-paper survey of stock forecasting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663440"/>
            <a:ext cx="4206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709159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Renaissance Medallion (est.)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59" y="4663440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0" y="4709159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≈ 50.7%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4663440"/>
            <a:ext cx="5074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66560" y="4709159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Per-trade hit rate (66% / yr returns)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166359"/>
            <a:ext cx="4206240" cy="502920"/>
          </a:xfrm>
          <a:prstGeom prst="rect">
            <a:avLst/>
          </a:prstGeom>
          <a:solidFill>
            <a:srgbClr val="F4A2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212079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This work — chart-CNN BTC 1h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59" y="5166359"/>
            <a:ext cx="1920240" cy="502920"/>
          </a:xfrm>
          <a:prstGeom prst="rect">
            <a:avLst/>
          </a:prstGeom>
          <a:solidFill>
            <a:srgbClr val="F4A2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46320" y="5212079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53.4%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5166359"/>
            <a:ext cx="5074920" cy="502920"/>
          </a:xfrm>
          <a:prstGeom prst="rect">
            <a:avLst/>
          </a:prstGeom>
          <a:solidFill>
            <a:srgbClr val="F4A2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0" y="5212079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DM vs XGBoost: p = 0.006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897879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53% is the floor, not the ceiling.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Phase 5 fusion adds 2–4 pts in the multimodal literature, putting the target at 55–57% with significance.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06  ·  DEFENDING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Why this is research — not a money-making product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783080"/>
            <a:ext cx="576072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76072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EXAMINER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1E2761"/>
                </a:solidFill>
                <a:latin typeface="Calibri"/>
              </a:rPr>
              <a:t>If the model is shared globally and everyone profits, what happens to market cap?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30352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Self-defeating prophecy.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Once everyone deploys the model, the predictable signal is arbitraged away — there is no counter-party left for the trade. McLean &amp; Pontiff (2016) show that 32–58% of out-of-sample return decays after publication of a strategy.
</a:t>
            </a:r>
          </a:p>
          <a:p>
            <a:r>
              <a:rPr sz="1300" b="1" i="0">
                <a:solidFill>
                  <a:srgbClr val="1E2761"/>
                </a:solidFill>
                <a:latin typeface="Calibri"/>
              </a:rPr>
              <a:t>Therefore the contribution is methodological, not commercial.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783080"/>
            <a:ext cx="5120640" cy="4297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1920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EDGE DECAY AFTER PUBLICATION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0" y="5532120"/>
            <a:ext cx="4389119" cy="0"/>
          </a:xfrm>
          <a:prstGeom prst="line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2788920"/>
            <a:ext cx="0" cy="2743200"/>
          </a:xfrm>
          <a:prstGeom prst="line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2926080"/>
            <a:ext cx="877823" cy="54864"/>
          </a:xfrm>
          <a:prstGeom prst="line">
            <a:avLst/>
          </a:prstGeom>
          <a:ln w="3810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27263" y="2980944"/>
            <a:ext cx="438912" cy="630936"/>
          </a:xfrm>
          <a:prstGeom prst="line">
            <a:avLst/>
          </a:prstGeom>
          <a:ln w="3810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66175" y="3611880"/>
            <a:ext cx="877825" cy="822960"/>
          </a:xfrm>
          <a:prstGeom prst="line">
            <a:avLst/>
          </a:prstGeom>
          <a:ln w="3810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4434840"/>
            <a:ext cx="1316736" cy="548639"/>
          </a:xfrm>
          <a:prstGeom prst="line">
            <a:avLst/>
          </a:prstGeom>
          <a:ln w="3810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60736" y="4983479"/>
            <a:ext cx="877823" cy="274321"/>
          </a:xfrm>
          <a:prstGeom prst="line">
            <a:avLst/>
          </a:prstGeom>
          <a:ln w="3810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46719" y="2788920"/>
            <a:ext cx="0" cy="2743200"/>
          </a:xfrm>
          <a:prstGeom prst="line">
            <a:avLst/>
          </a:prstGeom>
          <a:ln w="1270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89519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C83E3E"/>
                </a:solidFill>
                <a:latin typeface="Calibri"/>
              </a:rPr>
              <a:t>Publication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697479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556869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3611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  <a:latin typeface="Calibri"/>
              </a:rPr>
              <a:t>−32% to −58%</a:t>
            </a:r>
          </a:p>
          <a:p>
            <a:r>
              <a:rPr sz="1000" b="0" i="1">
                <a:solidFill>
                  <a:srgbClr val="CADCFC"/>
                </a:solidFill>
                <a:latin typeface="Calibri"/>
              </a:rPr>
              <a:t>
McLean &amp; Pontiff (2016)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06  ·  DEFENDING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Calibrated trust — methodology, evidence, honesty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783080"/>
            <a:ext cx="5532120" cy="219456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53212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Georgia"/>
              </a:rPr>
              <a:t>Methodology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49834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Walk-forward CV with mathematical no-leak guarantee. Diebold-Mariano with HLN small-sample correction. Unit tests that fail the build on any timestamp leakage.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532120" cy="219456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53212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84248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Georgia"/>
              </a:rPr>
              <a:t>Evidence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9834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53.4% reproduced across 5 independent cryptocurrency pairs. Chart-CNN beats XGBoost on BTC at p = 0.006. Every result lives in experiments/baselines/ and is regeneratable from a fresh checkout.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60520"/>
            <a:ext cx="5532120" cy="219456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160520"/>
            <a:ext cx="553212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361688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Georgia"/>
              </a:rPr>
              <a:t>Honesty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37759"/>
            <a:ext cx="49834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Negative findings are reported alongside positive ones — naive persistence loses money on 1h crypto, GAF underperforms candlestick rasters on altcoins. No cherry-picking.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160520"/>
            <a:ext cx="5532120" cy="219456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160520"/>
            <a:ext cx="553212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361688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Georgia"/>
              </a:rPr>
              <a:t>What I do NOT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59"/>
            <a:ext cx="49834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alibri"/>
              </a:rPr>
              <a:t>I do not claim the model will make traders rich — that contradicts the efficient-market answer. I do not claim Phase 5 fusion will definitely beat baselines — that is a hypothesis the DM test answers at the end.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07  · 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 dirty="0">
                <a:solidFill>
                  <a:srgbClr val="1E2761"/>
                </a:solidFill>
                <a:latin typeface="Georgia"/>
              </a:rPr>
              <a:t>Saunders' research onion + development approach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783080"/>
            <a:ext cx="146304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82880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783080"/>
            <a:ext cx="237744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75688" y="1828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Choice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3337560" cy="36576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1828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4630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2194560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Philosophy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148840"/>
            <a:ext cx="23774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75688" y="2194560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Positivism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148840"/>
            <a:ext cx="33375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2194560"/>
            <a:ext cx="3108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Outputs are measurable, objective, reproducible.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15768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2761488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2715768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75688" y="2761488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Deductive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715768"/>
            <a:ext cx="3337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3128" y="2761488"/>
            <a:ext cx="3108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Hypothesis (multimodal beats single) tested against held-out folds.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82696"/>
            <a:ext cx="14630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" y="3328416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Choice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3282696"/>
            <a:ext cx="23774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75688" y="3328416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Quantitative experimentation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282696"/>
            <a:ext cx="33375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53128" y="3328416"/>
            <a:ext cx="3108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Primary signal = metric tables; secondary = qualitative dashboard usability.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849624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3895344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Strategy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65960" y="3849624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75688" y="3895344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Experimental — walk-forward CV + DM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3849624"/>
            <a:ext cx="3337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53128" y="3895344"/>
            <a:ext cx="3108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Each new modality is an ablation arm vs the established baseline.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416552"/>
            <a:ext cx="14630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" y="4462272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Time horizon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4416552"/>
            <a:ext cx="237744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075688" y="4462272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Cross-sectional + rolling windows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4416552"/>
            <a:ext cx="333756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53128" y="4462272"/>
            <a:ext cx="3108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Years of OHLCV sliced into expanding train / fixed-test folds.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983480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" y="5029200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Data collection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65960" y="4983480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075688" y="5029200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Secondary — Binance + RSS feeds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983480"/>
            <a:ext cx="3337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53128" y="5029200"/>
            <a:ext cx="3108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Permissive licences, fully reproducible from a fresh checkout.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1783080"/>
            <a:ext cx="388620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818120" y="1783080"/>
            <a:ext cx="3886200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01000" y="19202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DEVELOPMENT APPROACH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22860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  <a:latin typeface="Georgia"/>
              </a:rPr>
              <a:t>Agile, phase-gated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278892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300" b="0" i="0">
                <a:solidFill>
                  <a:srgbClr val="F4A26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Each phase = 2–3 week sprint with a runnable deliverable.</a:t>
            </a:r>
          </a:p>
          <a:p>
            <a:r>
              <a:rPr sz="1300" b="0" i="0">
                <a:solidFill>
                  <a:srgbClr val="F4A261"/>
                </a:solidFill>
                <a:latin typeface="Calibri"/>
              </a:rPr>
              <a:t>
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Smoke tests written first (TDD-style).</a:t>
            </a:r>
          </a:p>
          <a:p>
            <a:r>
              <a:rPr sz="1300" b="0" i="0">
                <a:solidFill>
                  <a:srgbClr val="F4A261"/>
                </a:solidFill>
                <a:latin typeface="Calibri"/>
              </a:rPr>
              <a:t>
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Walk-forward CV harness reused across phases.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44348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01000" y="4800600"/>
            <a:ext cx="740664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01000" y="4800600"/>
            <a:ext cx="7406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14816" y="4800600"/>
            <a:ext cx="818388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14816" y="4800600"/>
            <a:ext cx="8183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PyTorch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06356" y="4800600"/>
            <a:ext cx="818388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06356" y="4800600"/>
            <a:ext cx="8183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97896" y="4800600"/>
            <a:ext cx="662940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597896" y="4800600"/>
            <a:ext cx="6629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FAISS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01000" y="5166360"/>
            <a:ext cx="818388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01000" y="5166360"/>
            <a:ext cx="8183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92540" y="5166360"/>
            <a:ext cx="818388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892540" y="5166360"/>
            <a:ext cx="8183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FinBERT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84080" y="5166360"/>
            <a:ext cx="1051560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784080" y="516636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CryptoBERT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01000" y="5532120"/>
            <a:ext cx="1440180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001000" y="5532120"/>
            <a:ext cx="14401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TradingView LWC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07  ·  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12-month timeline  ·  4 phases done, 4 remaining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606040" y="1828800"/>
            <a:ext cx="90982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6040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230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2419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0610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799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6990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5179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3370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560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0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7940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46130" y="1828800"/>
            <a:ext cx="75819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240280"/>
            <a:ext cx="9098280" cy="47434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240280"/>
            <a:ext cx="2011679" cy="474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Phase 1 — Data Ingestion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350008"/>
            <a:ext cx="666750" cy="25488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51760" y="2350008"/>
            <a:ext cx="666750" cy="254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 DONE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714625"/>
            <a:ext cx="9098280" cy="474344"/>
          </a:xfrm>
          <a:prstGeom prst="rect">
            <a:avLst/>
          </a:prstGeom>
          <a:solidFill>
            <a:srgbClr val="F4F6F9"/>
          </a:solidFill>
          <a:ln w="381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714625"/>
            <a:ext cx="2011679" cy="474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Phase 2 — Baselines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9950" y="2824353"/>
            <a:ext cx="666750" cy="25488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09950" y="2824353"/>
            <a:ext cx="666750" cy="254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 DONE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188970"/>
            <a:ext cx="9098280" cy="47434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188970"/>
            <a:ext cx="2011679" cy="474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Phase 3 — Chart-CNN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8139" y="3298698"/>
            <a:ext cx="1424939" cy="25488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68139" y="3298698"/>
            <a:ext cx="1424939" cy="254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 DONE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663314"/>
            <a:ext cx="9098280" cy="474344"/>
          </a:xfrm>
          <a:prstGeom prst="rect">
            <a:avLst/>
          </a:prstGeom>
          <a:solidFill>
            <a:srgbClr val="F4F6F9"/>
          </a:solidFill>
          <a:ln w="381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663314"/>
            <a:ext cx="2011679" cy="474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Phase 4 — News &amp; Sentiment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4519" y="3773043"/>
            <a:ext cx="666750" cy="25488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84519" y="3773043"/>
            <a:ext cx="666750" cy="254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 DONE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4137660"/>
            <a:ext cx="9098280" cy="47434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137660"/>
            <a:ext cx="2011679" cy="474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Phase 5 — Multimodal Fusion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2710" y="4247388"/>
            <a:ext cx="2183129" cy="254888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06040" y="4612004"/>
            <a:ext cx="9098280" cy="474344"/>
          </a:xfrm>
          <a:prstGeom prst="rect">
            <a:avLst/>
          </a:prstGeom>
          <a:solidFill>
            <a:srgbClr val="F4F6F9"/>
          </a:solidFill>
          <a:ln w="381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612004"/>
            <a:ext cx="2011679" cy="474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Phase 6 — Pattern Engine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17280" y="4721732"/>
            <a:ext cx="1424939" cy="254888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606040" y="5086350"/>
            <a:ext cx="9098280" cy="474344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5086350"/>
            <a:ext cx="2011679" cy="474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Phase 7 — Live 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33660" y="5196078"/>
            <a:ext cx="666750" cy="254888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606040" y="5560695"/>
            <a:ext cx="9098280" cy="474344"/>
          </a:xfrm>
          <a:prstGeom prst="rect">
            <a:avLst/>
          </a:prstGeom>
          <a:solidFill>
            <a:srgbClr val="F4F6F9"/>
          </a:solidFill>
          <a:ln w="381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560695"/>
            <a:ext cx="2011679" cy="474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Thesis writing &amp; viva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91850" y="5670423"/>
            <a:ext cx="666750" cy="254888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3743325" y="1828800"/>
            <a:ext cx="0" cy="4206240"/>
          </a:xfrm>
          <a:prstGeom prst="line">
            <a:avLst/>
          </a:prstGeom>
          <a:ln w="1905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77565" y="153619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C83E3E"/>
                </a:solidFill>
                <a:latin typeface="Calibri"/>
              </a:rPr>
              <a:t>NOW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6172200"/>
            <a:ext cx="228600" cy="1645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898648" y="61539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Completed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69080" y="6172200"/>
            <a:ext cx="228600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361688" y="61539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Calibri"/>
              </a:rPr>
              <a:t>Planned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C7293"/>
                </a:solidFill>
                <a:latin typeface="Calibri"/>
              </a:rPr>
              <a:t>07  · 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430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Georgia"/>
              </a:rPr>
              <a:t>Anticipated risks and mitigations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08760"/>
            <a:ext cx="960120" cy="0"/>
          </a:xfrm>
          <a:prstGeom prst="line">
            <a:avLst/>
          </a:prstGeom>
          <a:ln w="317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783080"/>
            <a:ext cx="438912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783080"/>
            <a:ext cx="14630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79" y="1783080"/>
            <a:ext cx="53492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94560"/>
            <a:ext cx="438912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240279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Insufficient news for fusion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2194560"/>
            <a:ext cx="146304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240279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Calibri"/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79" y="2194560"/>
            <a:ext cx="534924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240279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Pipeline runs forward; report on overlap window with sample size.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88920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834639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Phase 5 fusion under-performs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2788920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2834639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79" y="2788920"/>
            <a:ext cx="5349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834639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Negative result with DM significance is itself publishable.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83279"/>
            <a:ext cx="438912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428999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Hardware / training time blow-up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3383279"/>
            <a:ext cx="146304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3428999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79" y="3383279"/>
            <a:ext cx="534924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428999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CPU-friendly small CNN (250K params), workers + caching enabled.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977639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023359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Geo-blocking on Binance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977639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4023359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28B22"/>
                </a:solidFill>
                <a:latin typeface="Calibri"/>
              </a:rPr>
              <a:t>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79" y="3977639"/>
            <a:ext cx="5349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023359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Fallback to api.binance.us in config; documented switch.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572000"/>
            <a:ext cx="438912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6177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Data licence concerns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4572000"/>
            <a:ext cx="146304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0" y="461772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228B22"/>
                </a:solidFill>
                <a:latin typeface="Calibri"/>
              </a:rPr>
              <a:t>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79" y="4572000"/>
            <a:ext cx="534924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461772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Only public RSS + Binance public endpoints used.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166360"/>
            <a:ext cx="4389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521208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Examiner doubts on accuracy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2040" y="5166360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0" y="521208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4A261"/>
                </a:solidFill>
                <a:latin typeface="Calibri"/>
              </a:rPr>
              <a:t>Medium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79" y="5166360"/>
            <a:ext cx="5349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521208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DM test + literature comparison documented in deck.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41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6693408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CADCFC"/>
                </a:solidFill>
                <a:latin typeface="Calibri"/>
              </a:rPr>
              <a:t>Multimodal Crypto Direction Prediction  ·  Research Proposal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69340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F4A261"/>
                </a:solidFill>
                <a:latin typeface="Calibri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Georgia"/>
              </a:rPr>
              <a:t>Multimodal direction prediction —
and the calibrated uncertainty to know when to trust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3535680" cy="1554480"/>
          </a:xfrm>
          <a:prstGeom prst="rect">
            <a:avLst/>
          </a:prstGeom>
          <a:solidFill>
            <a:srgbClr val="141A44"/>
          </a:solidFill>
          <a:ln w="635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547872"/>
            <a:ext cx="307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4A261"/>
                </a:solidFill>
                <a:latin typeface="Georgia"/>
              </a:rPr>
              <a:t>4 / 7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3078480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libri"/>
              </a:rPr>
              <a:t>Already delivered with measurable evidence on disk.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8640" y="3383280"/>
            <a:ext cx="3535680" cy="1554480"/>
          </a:xfrm>
          <a:prstGeom prst="rect">
            <a:avLst/>
          </a:prstGeom>
          <a:solidFill>
            <a:srgbClr val="141A44"/>
          </a:solidFill>
          <a:ln w="635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7240" y="3547872"/>
            <a:ext cx="307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4A261"/>
                </a:solidFill>
                <a:latin typeface="Georgia"/>
              </a:rPr>
              <a:t>P = 0.006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240" y="4023360"/>
            <a:ext cx="3078480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libri"/>
              </a:rPr>
              <a:t>Chart-CNN beats XGBoost on BTC 1h, statistically.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7199" y="3383280"/>
            <a:ext cx="3535680" cy="1554480"/>
          </a:xfrm>
          <a:prstGeom prst="rect">
            <a:avLst/>
          </a:prstGeom>
          <a:solidFill>
            <a:srgbClr val="141A44"/>
          </a:solidFill>
          <a:ln w="635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799" y="3547872"/>
            <a:ext cx="307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F4A261"/>
                </a:solidFill>
                <a:latin typeface="Georgia"/>
              </a:rPr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799" y="4023360"/>
            <a:ext cx="3078480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libri"/>
              </a:rPr>
              <a:t>Honest, reproducible, transparent — defensible by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141A44"/>
                </a:solidFill>
                <a:latin typeface="Georgia"/>
              </a:rPr>
              <a:t>Q&amp;A  ·  </a:t>
            </a:r>
            <a:r>
              <a:rPr sz="2800" b="0" i="1">
                <a:solidFill>
                  <a:srgbClr val="141A44"/>
                </a:solidFill>
                <a:latin typeface="Georgia"/>
              </a:rPr>
              <a:t>Thank you for your time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2098</Words>
  <Application>Microsoft Office PowerPoint</Application>
  <PresentationFormat>Widescreen</PresentationFormat>
  <Paragraphs>394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</cp:lastModifiedBy>
  <cp:revision>3</cp:revision>
  <dcterms:created xsi:type="dcterms:W3CDTF">2013-01-27T09:14:16Z</dcterms:created>
  <dcterms:modified xsi:type="dcterms:W3CDTF">2026-05-07T05:04:08Z</dcterms:modified>
  <cp:category/>
</cp:coreProperties>
</file>