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aim in one sentence. Ten minutes total, twelve slides. Emphasise: what is already built, with measured evidence, and defence against the toughest questions I can anticipate.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ceiling number confidently. If asked why crypto specifically: 24/7 markets, 5-10x the data of equities per pair, ideal for deep learning while adversarial. If asked if 53% is basically noise: crypto Sharpe-positive threshold is ~52%, so 1pp gain IS economically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row headers with authority. If asked about any one, be ready with its one-sentence claim from the SAY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aim once, slowly. Then rattle off the four RQs and note each maps to a phase. RQ4 is the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expanding gold bar. Emphasise gap = red between train and test — 'this is what prevents label leak'. Then Diebold-Mariano gives statistical rigour.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panel through the phases. Emphasise: each PHASE has a deliverable, not a promise. Phase 5 is the headline. Phase 8 is the self-sustaining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 the counts — 6, 16, 4, 2, 4 = 31 total. Emphasise lookahead-safe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dual heads: embedding for Phase 6 similarity, classifier for direction. '250 K parameters is deliberately small — CPU-trainable in ~15 min per fold.'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ensemble is calibrated — score is agreement, confidence is 1 minus disagreement. The leak guard is critical for defending against panellist skepticism.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Three modality vectors → concat → standardise → LR → conformal. Emphasise: 166 coefficients tell you exactly which features matter — this is interpretable.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four algorithm steps clearly. Then point at the coverage guarantee — 'this is why 88% coverage vs 90% nominal is the calibration honesty proof.'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each row in one breath. Emphasise DM p-values — that is the statistical rigour bit the panel wants to hear.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MONEY SLIDE. Deliver slowly and confidently. Pause after the 0.5492. Pause after 'p equals one in a thousand'. Emphasise that 88% coverage vs 90% nominal is the calibration honesty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gold rows (with CNN). Emphasise: identical acc for num_cnn and num_cnn_sent = sentiment weight is ZERO. That's the model correctly refusing to overfit.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EWC delta being small IS a positive finding — it means the underlying data isn't drifting hard, and the framework is instrumented to detect it if it were.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live demo works: switch tab, click Start on paper trader, click a candle, click Analyze visible range. If it fails: pivot to screenshots you took the night before. HAVE THE SCREENSHOTS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confidence-vs-uncertainty accuracy split is the LIVE VERSION of the conformal calibration proof. Emphasise: this is thesis gold.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the panel should walk out remembering. Point at RO5 — 'that row is the direct answer to RQ4.' The mapping is what makes the objectives unfailable in the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from the slide during Q&amp;A — know these by heart. If you can deliver each answer without looking, the panel will assume the whole thesis is equally rehearsed.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confidently. 'The system is running. The evidence is on disk.' Then pause. Then 'Thank you — questions?' — don't rush past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200400" cy="5148072"/>
          </a:xfrm>
          <a:prstGeom prst="rect">
            <a:avLst/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52360" y="1280160"/>
            <a:ext cx="1188720" cy="118872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  <a:latin typeface="Calibri"/>
              </a:rPr>
              <a:t>INTERIM PRESENTATION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Multimodal Cryptocurrency
Direction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5486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1">
                <a:solidFill>
                  <a:srgbClr val="CADCFC"/>
                </a:solidFill>
                <a:latin typeface="Cambria"/>
              </a:rPr>
              <a:t>with Calibrated 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Fusing numerical features · chart-CNN · news sentiment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Wrapped in inductive conformal prediction · validated via Diebold-Mariano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8A96A6"/>
                </a:solidFill>
                <a:latin typeface="Calibri"/>
              </a:rPr>
              <a:t>Pathum   ·   Sri Lanka Institute of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single-modality crypto prediction has hit a measurable ceiling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C857"/>
                </a:solidFill>
                <a:latin typeface="Cambria"/>
              </a:rPr>
              <a:t>~53 %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3774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accuracy plateau for numerical
models on 1h BTC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Livieris et al. 2020; Sezer &amp; Ozbayoglu 2018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C857"/>
                </a:solidFill>
                <a:latin typeface="Cambria"/>
              </a:rPr>
              <a:t>rarely 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94560"/>
            <a:ext cx="23774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chart-vision models seldom
DM-benchmarked vs strong
tabular baselines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29184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FFC857"/>
                </a:solidFill>
                <a:latin typeface="Cambria"/>
              </a:rPr>
              <a:t>no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94560"/>
            <a:ext cx="23774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practitioners cannot know
when to trust the model —
almost no prior work quantifies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29184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My contribution — measure whether fusing all three modalities produces statistically significant improvement,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and quantify the model's confidence honestly with conformal prediction.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anchored to established prior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Cambria"/>
              </a:rPr>
              <a:t>Baltrušaitis et al. (2018)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43584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Late-fusion taxonomy for multimodal 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64208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Cambria"/>
              </a:rPr>
              <a:t>Livieris et al. (2020)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19072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Numerical-only crypto direction baselines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39696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Cambria"/>
              </a:rPr>
              <a:t>Sezer &amp; Ozbayoglu (2018)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94560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GAF-encoded chart-image CNN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15184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70048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Cambria"/>
              </a:rPr>
              <a:t>Vovk et al. (2005)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70048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Inductive conformal prediction framework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90672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45536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Cambria"/>
              </a:rPr>
              <a:t>Kirkpatrick et al. (2017)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45536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Elastic Weight Consolidation (continual learning)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21024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Cambria"/>
              </a:rPr>
              <a:t>Hamilton (1989)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21024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Regime-switching HMM in finance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1648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96511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Cambria"/>
              </a:rPr>
              <a:t>Diebold &amp; Mariano (1995)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096511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Forecast-loss significance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Aim &amp; 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Design, implement, and evaluate a multimodal crypto direction-prediction system that fuses chart imagery, numerical features, and news sentiment, quantifying its own uncertainty via conformal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FC857"/>
                </a:solidFill>
                <a:latin typeface="Cambria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68879"/>
            <a:ext cx="29260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Can a leak-free, reproducible pipeline
be built for crypto OHLCV + news?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331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42316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FC857"/>
                </a:solidFill>
                <a:latin typeface="Cambria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2468879"/>
            <a:ext cx="29260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 single-modality numerical models
hit a measurable accuracy ceiling?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11879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FC857"/>
                </a:solidFill>
                <a:latin typeface="Cambria"/>
              </a:rPr>
              <a:t>RQ3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29260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Does chart-image CNN add statistically
significant signal beyond numerical?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611879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703320"/>
            <a:ext cx="914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FC857"/>
                </a:solidFill>
                <a:latin typeface="Cambria"/>
              </a:rPr>
              <a:t>RQ4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3749039"/>
            <a:ext cx="29260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Does fusing all three modalities with
calibrated uncertainty beat any single one?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Walk-forward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the harness that lets us claim statistical significance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868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fold 0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417320"/>
            <a:ext cx="2286000" cy="3200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41732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417320"/>
            <a:ext cx="73152" cy="3200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13632" y="1417320"/>
            <a:ext cx="914400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352" y="1417320"/>
            <a:ext cx="822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868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fold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1874519"/>
            <a:ext cx="3200400" cy="3200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1874519"/>
            <a:ext cx="3108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874519"/>
            <a:ext cx="73152" cy="3200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28032" y="1874519"/>
            <a:ext cx="914400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1874519"/>
            <a:ext cx="822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31720"/>
            <a:ext cx="868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fold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331720"/>
            <a:ext cx="4114800" cy="3200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233172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331720"/>
            <a:ext cx="73152" cy="3200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42432" y="2331720"/>
            <a:ext cx="914400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88152" y="2331720"/>
            <a:ext cx="822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788920"/>
            <a:ext cx="868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fold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788920"/>
            <a:ext cx="5029200" cy="3200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27889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train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788920"/>
            <a:ext cx="73152" cy="3200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56832" y="2788920"/>
            <a:ext cx="914400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2788920"/>
            <a:ext cx="822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8A96A6"/>
                </a:solidFill>
                <a:latin typeface="Calibri"/>
              </a:rPr>
              <a:t>training window grows chronologically   ·   1-bar gap prevents label leak   ·   test size fixed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Same harness across every model.  Diebold–Mariano test compares any two on the same test bars.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This is the foundation that lets us claim statistical significance, not just accuracy numbers.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eight phases · each delivers a measurable artefact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79" y="1417319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44751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57400"/>
            <a:ext cx="187451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Binance OHLCV + 10 RSS feeds
Dual timestamps · leak-invariant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79" y="128016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06039" y="1417319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1444751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79" y="1444751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Numerical baselines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2057400"/>
            <a:ext cx="187451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Naive · XGBoost · LSTM · PatchTST
6-fold walk-forward 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28016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0600" y="1417319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444751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444751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Chart-CNN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057400"/>
            <a:ext cx="187451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64×64 candle images
+ GAF/MTF encoders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7999" y="128016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59" y="1417319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1444751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1444751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News sentiment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057400"/>
            <a:ext cx="187451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CryptoBERT + FinBERT ensemble
7 per-bar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01752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1479" y="3154679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182112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1821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Multimodal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3794759"/>
            <a:ext cx="187451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Concat-LR + inductive conformal
90 % calibrated sets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79" y="301752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606039" y="3154679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39" y="3182112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79" y="31821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Pattern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39" y="3794759"/>
            <a:ext cx="187451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FAISS + 3-state HMM
+ Elastic Weight Consolidation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301752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3154679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3182112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mbr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1821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3794759"/>
            <a:ext cx="187451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FastAPI + TradingView
+ Grad-CAM + range analysis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7999" y="301752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95159" y="3154679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59" y="3182112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mbria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1821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Self-sustaining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59" y="3794759"/>
            <a:ext cx="187451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Auto-persist + nightly refit
+ live paper trading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Numerical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31 lookahead-safe features per bar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8229600" cy="43891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9304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C857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307592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log-returns at lags 1, 2, 3, 5, 10,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8229600" cy="43891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92224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C857"/>
                </a:solidFill>
                <a:latin typeface="Cambria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64792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Rolling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9339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10512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mean, std, min, max over windows 5, 10, 20, 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40280"/>
            <a:ext cx="8229600" cy="43891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95144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C857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267712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Technical indicators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9631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13432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RSI · MACD · ATR · Bollinger %B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8229600" cy="43891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98064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C857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70632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Volume / microstructure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99923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816352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volume ratio · taker-buy share (Binance aggressive-buy)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246120"/>
            <a:ext cx="8229600" cy="43891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00984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C857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273552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Time cyclic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50215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319272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sin / cos of hour-of-day + day-of-week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Every feature uses only information available at or before bar t.  Warmup rows dropped.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8A96A6"/>
                </a:solidFill>
                <a:latin typeface="Calibri"/>
              </a:rPr>
              <a:t>Enforced by keeping construction in one auditable file (src/features/numerical.py).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Chart-CNN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compact ~250 K parameters · dual-head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029200" cy="34747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input · (3, 64, 64)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243584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FFC857"/>
                </a:solidFill>
                <a:latin typeface="Cambria"/>
              </a:rPr>
              <a:t>RGB candle image  OR  GAF+MTF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029200" cy="34747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55064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Conv 3→32 · BN · ReLU · MaxPool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655064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FFC857"/>
                </a:solidFill>
                <a:latin typeface="Cambria"/>
              </a:rPr>
              <a:t>32 × 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5029200" cy="34747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66544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Conv 32→64 · BN · ReLU · MaxPool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66544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FFC857"/>
                </a:solidFill>
                <a:latin typeface="Cambria"/>
              </a:rPr>
              <a:t>16 ×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23160"/>
            <a:ext cx="5029200" cy="34747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78024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Conv 64→128 · BN · ReLU · MaxPool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78024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FFC857"/>
                </a:solidFill>
                <a:latin typeface="Cambria"/>
              </a:rPr>
              <a:t>8 ×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5029200" cy="34747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Conv 128→128 · BN · ReLU · AdaptiveAvgPool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889504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 i="0">
                <a:solidFill>
                  <a:srgbClr val="FFC857"/>
                </a:solidFill>
                <a:latin typeface="Cambria"/>
              </a:rPr>
              <a:t>128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00200"/>
            <a:ext cx="297180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69164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EMBEDDING 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01168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Linear 128 → 128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3317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reused by Phase 6 FAISS index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2926080"/>
            <a:ext cx="297180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301752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CLASSIFIER 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3375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Linear 128 →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365760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binary direction logit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1">
                <a:solidFill>
                  <a:srgbClr val="8A96A6"/>
                </a:solidFill>
                <a:latin typeface="Calibri"/>
              </a:rPr>
              <a:t>Same architecture for both encoders · same walk-forward harness · DM-comparable with numerical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News sentiment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CryptoBERT + FinBERT · calibrated ensemble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CRYPTOBERT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ElKulako/cryptobert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crypto-domain text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output ∈ [−1, +1]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FINBERT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ProsusAI/finbert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general financial text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output ∈ [−1, +1]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score = mean(cb, fb)   ·   confidence = 1 − |cb − fb|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7 per-bar features over 24 h lookback:  sent_count · mean · std · min · max · last · conf_mean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77639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41648"/>
            <a:ext cx="7863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mbria"/>
              </a:rPr>
              <a:t>Leakage guard — hard assert per row:  published_at  ≤  bar_open_time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Late-fusion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concatenate then classify — 166-dim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Numerical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07592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 i="0">
                <a:solidFill>
                  <a:srgbClr val="FFC857"/>
                </a:solidFill>
                <a:latin typeface="Cambria"/>
              </a:rPr>
              <a:t>[31]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39112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CNN 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39112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 i="0">
                <a:solidFill>
                  <a:srgbClr val="FFC857"/>
                </a:solidFill>
                <a:latin typeface="Cambria"/>
              </a:rPr>
              <a:t>[128]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Sentiment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770632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 i="0">
                <a:solidFill>
                  <a:srgbClr val="FFC857"/>
                </a:solidFill>
                <a:latin typeface="Cambria"/>
              </a:rPr>
              <a:t>[7]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69164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78308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mbria"/>
              </a:rPr>
              <a:t>CONCAT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03120"/>
            <a:ext cx="1828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mbria"/>
              </a:rPr>
              <a:t>[166]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1">
                <a:solidFill>
                  <a:srgbClr val="1E2761"/>
                </a:solidFill>
                <a:latin typeface="Calibri"/>
              </a:rPr>
              <a:t>standardize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9718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1E2761"/>
                </a:solidFill>
                <a:latin typeface="Calibri"/>
              </a:rPr>
              <a:t>(train stats only)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69164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783080"/>
            <a:ext cx="1737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857"/>
                </a:solidFill>
                <a:latin typeface="Calibri"/>
              </a:rPr>
              <a:t>L2 LOGISTIC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103120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mbria"/>
              </a:rPr>
              <a:t>P(up | 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514600"/>
            <a:ext cx="1737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1">
                <a:solidFill>
                  <a:srgbClr val="CADCFC"/>
                </a:solidFill>
                <a:latin typeface="Calibri"/>
              </a:rPr>
              <a:t>166 coefficients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880360"/>
            <a:ext cx="1737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fully interpretable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1691640"/>
            <a:ext cx="1463040" cy="16916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78308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857"/>
                </a:solidFill>
                <a:latin typeface="Calibri"/>
              </a:rPr>
              <a:t>CONFORMAL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14884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90 %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60604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88036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1">
                <a:solidFill>
                  <a:srgbClr val="8A96A6"/>
                </a:solidFill>
                <a:latin typeface="Calibri"/>
              </a:rPr>
              <a:t>Why simple? interpretable · ablation-friendly · refits in seconds → enables nightly auto-retrain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C857"/>
                </a:solidFill>
                <a:latin typeface="Cambria"/>
              </a:rPr>
              <a:t>This slide IS the answer to RQ4.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Conformal prediction primer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Vovk 2005 · inductive (split) classifier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1.  reserve last 20 % of train as 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2.  nonconformity  α_i = 1 − p(y_i | x_i)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657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3.  threshold τ = quantile(α,
     ⌈(n+1)(1 − α)⌉ / 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4.  C(x) = { c :  1 − p(c | x) ≤ τ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COVERAGE GUARANTEE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0020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P( y ∈ C(x) )  ≥  1 − 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2761"/>
                </a:solidFill>
                <a:latin typeface="Calibri"/>
              </a:rPr>
              <a:t>under exchangeability of calibration +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MEASURED ON BTC 1H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0040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empirical coverage 0.883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6576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nominal α = 0.10  →  target 0.90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977639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FFC857"/>
                </a:solidFill>
                <a:latin typeface="Calibri"/>
              </a:rPr>
              <a:t>Δ = 1.7 pp  →  calibration is honest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RO1–RO4 · foundation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four objectives complete with measured evidence on disk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8229600" cy="749808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9304"/>
            <a:ext cx="822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C857"/>
                </a:solidFill>
                <a:latin typeface="Cambria"/>
              </a:rPr>
              <a:t>RO1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98448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pipeline · 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0020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77,688 BTC 1h bars · 454 scored articles · 100 % published_at ≤ ingested_at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8229600" cy="749808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57984"/>
            <a:ext cx="822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C857"/>
                </a:solidFill>
                <a:latin typeface="Cambria"/>
              </a:rPr>
              <a:t>RO2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67127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Numerical baselines · 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68879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5 models × walk-forward · best (LSTM) 53.4 % · DM p&lt;0.001 vs naive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8229600" cy="749808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26664"/>
            <a:ext cx="822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C857"/>
                </a:solidFill>
                <a:latin typeface="Cambria"/>
              </a:rPr>
              <a:t>RO3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35808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Chart-CNN baselines · 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33756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cnn_candle 54.0 % on BTC · DM p = 0.006 vs XGBoost — vision adds signal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79"/>
            <a:ext cx="8229600" cy="749808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95343"/>
            <a:ext cx="822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C857"/>
                </a:solidFill>
                <a:latin typeface="Cambria"/>
              </a:rPr>
              <a:t>RO4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904487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News sentiment · RQ4 prep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0624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CryptoBERT + FinBERT ensemble · leakage invariant tests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RO5 · headline result — fusion beats every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BTCUSDT · 1h · 6-fold walk-forward · n = 37,992 held-out bars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965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0.5492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1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8A96A6"/>
                </a:solidFill>
                <a:latin typeface="Calibri"/>
              </a:rP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234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325880"/>
            <a:ext cx="1965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0.1023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84831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8A96A6"/>
                </a:solidFill>
                <a:latin typeface="Calibri"/>
              </a:rPr>
              <a:t>MCC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234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25880"/>
            <a:ext cx="1965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0.0245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84831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8A96A6"/>
                </a:solidFill>
                <a:latin typeface="Calibri"/>
              </a:rPr>
              <a:t>SHARPE / BAR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234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325880"/>
            <a:ext cx="1965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 i="0">
                <a:solidFill>
                  <a:srgbClr val="FFC857"/>
                </a:solidFill>
                <a:latin typeface="Cambria"/>
              </a:rPr>
              <a:t>4.93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84831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8A96A6"/>
                </a:solidFill>
                <a:latin typeface="Calibri"/>
              </a:rPr>
              <a:t>CUMULATIVE LOG-PNL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51760"/>
            <a:ext cx="4023360" cy="1874519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DIEBOLD–MARIANO p-values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vs cnn_candle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06324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FC857"/>
                </a:solidFill>
                <a:latin typeface="Cambria"/>
              </a:rPr>
              <a:t>p ≈ 0.001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vs 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2900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FC857"/>
                </a:solidFill>
                <a:latin typeface="Cambria"/>
              </a:rPr>
              <a:t>p ≈ 0.000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9476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vs LSTM · PatchTST · cnn_gaf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9476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FC857"/>
                </a:solidFill>
                <a:latin typeface="Cambria"/>
              </a:rPr>
              <a:t>p ≈ 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negative signed p ⇒ fusion beats the baseline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651760"/>
            <a:ext cx="4023360" cy="1874519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7432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CONFORMAL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empirical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06324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FC857"/>
                </a:solidFill>
                <a:latin typeface="Cambria"/>
              </a:rPr>
              <a:t>0.883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4290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average set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42900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FC857"/>
                </a:solidFill>
                <a:latin typeface="Cambria"/>
              </a:rPr>
              <a:t>1.72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79476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confident singletons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79476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FC857"/>
                </a:solidFill>
                <a:latin typeface="Cambria"/>
              </a:rPr>
              <a:t>28.2 %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0.883 within 2 pp of nominal 0.90 → calibration is honest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RO5 · 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each modality's marginal contribution isolated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VARIANT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8016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8016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MCC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28016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Sharpe/bar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28016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PnL 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fusion_num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73736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mbria"/>
              </a:rPr>
              <a:t>0.5374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3736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mbria"/>
              </a:rPr>
              <a:t>0.078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3736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mbria"/>
              </a:rPr>
              <a:t>0.003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3736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mbria"/>
              </a:rPr>
              <a:t>0.74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0312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  <a:latin typeface="Calibri"/>
              </a:rPr>
              <a:t>fusion_num_cnn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4884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Cambria"/>
              </a:rPr>
              <a:t>0.5492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4884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Cambria"/>
              </a:rPr>
              <a:t>0.102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14884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Cambria"/>
              </a:rPr>
              <a:t>0.024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14884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Cambria"/>
              </a:rPr>
              <a:t>4.93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51460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56032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fusion_num_sent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56032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mbria"/>
              </a:rPr>
              <a:t>0.5374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56032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mbria"/>
              </a:rPr>
              <a:t>0.078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56032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mbria"/>
              </a:rPr>
              <a:t>0.003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56032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mbria"/>
              </a:rPr>
              <a:t>0.74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92608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97180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  <a:latin typeface="Calibri"/>
              </a:rPr>
              <a:t>fusion_num_cnn_sent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297180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Cambria"/>
              </a:rPr>
              <a:t>0.5492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7180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Cambria"/>
              </a:rPr>
              <a:t>0.102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97180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Cambria"/>
              </a:rPr>
              <a:t>0.024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97180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Cambria"/>
              </a:rPr>
              <a:t>4.93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Vision (CNN) is the marginal contributor  →  +1.2 pp accuracy, +4.2 PnL_log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Sentiment adds zero  →  the regression correctly refused to overfit sparse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RO6 · pattern engine + continual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FAISS retrieval · HMM regimes · EWC forgetting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FAISS IndexFlatIP over 128-d L2-normalised CNN 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Calibri"/>
              </a:rPr>
              <a:t>→ sub-ms top-K on 77 K bars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REGIMES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3-state HMM on (log-return, 24h vol)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9.9 % bear · 58.2 % sideways · 31.9 % bull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8A96A6"/>
                </a:solidFill>
                <a:latin typeface="Calibri"/>
              </a:rPr>
              <a:t>three well-populated states — no degeneracy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ELASTIC WEIGHT CONSOLIDATION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chronological phases · 6 epochs each · λ=5,000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945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naive sequential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19456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mbria"/>
              </a:rPr>
              <a:t>0.5553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60604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EWC sequential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60604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mbria"/>
              </a:rPr>
              <a:t>0.5509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1752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Calibri"/>
              </a:rPr>
              <a:t>Δ (EWC − naive)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01752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FC857"/>
                </a:solidFill>
                <a:latin typeface="Cambria"/>
              </a:rPr>
              <a:t>−0.45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566160"/>
            <a:ext cx="36576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Interpretation: catastrophic forgetting is NOT the binding
constraint on BTC 1h. Framework in place to detect drift.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RO7 · interactive dashboard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explainable predictions in one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C857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FastAPI backend · vanilla-JS frontend · TradingView Lightweight Charts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C857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Live SSE relay — backend fans Binance ticks to browser (no client-side geo issue)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C857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Click any candle → fused prediction + 90 % conformal set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C857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Top-5 similar historical patterns (regime-filtered) as mini candlestick charts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C857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Grad-CAM overlay — what the CNN attended to on that specific bar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C857"/>
                </a:solidFill>
                <a:latin typeface="Calibri"/>
              </a:rPr>
              <a:t>▪  </a:t>
            </a:r>
            <a:r>
              <a:rPr sz="1300">
                <a:solidFill>
                  <a:srgbClr val="FFFFFF"/>
                </a:solidFill>
                <a:latin typeface="Calibri"/>
              </a:rPr>
              <a:t>"Analyze visible range" — regime mix · return · P(up) histogram · news overlaps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79392"/>
            <a:ext cx="7863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mbria"/>
              </a:rPr>
              <a:t>🖥  Switch to http://127.0.0.1:8000 for a 30-second 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RO8 · self-sustaining live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the system evaluates itself, forward, in real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PAPER TRADER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657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confidence-gated — trades ONLY on
conformal singleton bars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3444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VOL-SCALED SIZING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3657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inverse-vol capped at 10-100 %
of balance per trade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AUTO-PERSIST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3657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every closed candle writes to the
Phase-1 parquet 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65176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Calibri"/>
              </a:rPr>
              <a:t>AUTO-REFIT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54680"/>
            <a:ext cx="3657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HMM + FAISS + fusion refit nightly
without dashboard restart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confident-accuracy &gt; uncertain-accuracy → live proof that conformal calibration is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Objectives → evidence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every objective has measurable evidence on disk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365760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207008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207008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MAPS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207008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8229600" cy="34747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RO1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2763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6276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77 K bars · 454 articles · invariants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65960"/>
            <a:ext cx="8229600" cy="347472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93391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RO2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993391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Numerical baselines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93391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993391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25 experiments · DM p&lt;0.001 vs naive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331720"/>
            <a:ext cx="8229600" cy="34747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59151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RO3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359151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Chart-CNN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359151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59151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54.0 % · DM p=0.006 vs XGBoost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97480"/>
            <a:ext cx="8229600" cy="347472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2491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RO4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272491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News sentiment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72491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272491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ensemble + leak-invariant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063240"/>
            <a:ext cx="8229600" cy="34747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09067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Cambria"/>
              </a:rPr>
              <a:t>RO5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3090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C857"/>
                </a:solidFill>
                <a:latin typeface="Calibri"/>
              </a:rPr>
              <a:t>Multimodal 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309067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C857"/>
                </a:solidFill>
                <a:latin typeface="Calibri"/>
              </a:rPr>
              <a:t>RQ4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09067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Calibri"/>
              </a:rPr>
              <a:t>0.549 acc · DM p≈0.001 · CP cov 0.88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429000"/>
            <a:ext cx="8229600" cy="347472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45643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RO6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345643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Pattern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45643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4564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FAISS + 3-state HMM + EWC delta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794760"/>
            <a:ext cx="8229600" cy="34747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82219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RO7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382219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382219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382219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running at localhost:8000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160520"/>
            <a:ext cx="8229600" cy="347472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18795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RO8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418795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Self-sustaining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418795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18795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persistor + retrainer live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Defence playbook — toughest questions rehearsed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1">
                <a:solidFill>
                  <a:srgbClr val="FFC857"/>
                </a:solidFill>
                <a:latin typeface="Calibri"/>
              </a:rPr>
              <a:t>What if fusion fails at final?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Objective is to MEASURE, not win. A negative result with a tight CI is a
publishable contribution. Already measured — it did not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1">
                <a:solidFill>
                  <a:srgbClr val="FFC857"/>
                </a:solidFill>
                <a:latin typeface="Calibri"/>
              </a:rPr>
              <a:t>Why 1 hour and not 1 day?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Finest interval with ~77 K bars (enough for deep learning) where 24h news
lookback is still relevant.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1">
                <a:solidFill>
                  <a:srgbClr val="FFC857"/>
                </a:solidFill>
                <a:latin typeface="Calibri"/>
              </a:rPr>
              <a:t>Only BTC in Phase 5?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98648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Phases 2 &amp; 3 evaluated across 5 pairs. Phase 5 focused BTC first for depth;
6–8 are pair-agnostic — expansion is config, not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1">
                <a:solidFill>
                  <a:srgbClr val="FFC857"/>
                </a:solidFill>
                <a:latin typeface="Calibri"/>
              </a:rPr>
              <a:t>Is 54.9 % economically meaningful?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84448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Sharpe/bar 0.025 and cumulative log-PnL 4.93 over 38 K bars —
measurable positive expectancy before fees.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77639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59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1">
                <a:solidFill>
                  <a:srgbClr val="FFC857"/>
                </a:solidFill>
                <a:latin typeface="Calibri"/>
              </a:rPr>
              <a:t>Overfitting?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70248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Walk-forward CV with 1-bar gap · lookahead-safe features · conformal cov
0.88 near nominal 0.90 = honesty test passed.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Timeline to final viva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weeks 1-4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353312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Extend Phase 5 fusion to all 5 pairs — configuration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weeks 4-8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01952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Weekly full CNN retrain — closes the fallback banner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39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50591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weeks 8-10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450591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Multi-week live paper-trading evidence for RO8 verdict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79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9923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weeks 10-12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999232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Thesis write-up + final-viva rehearsal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C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C857"/>
                </a:solidFill>
                <a:latin typeface="Cambria"/>
              </a:rPr>
              <a:t>The system is running. The evidence is on disk.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mbria"/>
              </a:rPr>
              <a:t>Thank you — 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8A96A6"/>
                </a:solidFill>
                <a:latin typeface="Calibri"/>
              </a:rPr>
              <a:t>Multimodal Crypto Direction Predictor · Interim 2 · July 7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8A96A6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